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bas Neue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Montserrat" charset="1" panose="00000500000000000000"/>
      <p:regular r:id="rId15"/>
    </p:embeddedFont>
    <p:embeddedFont>
      <p:font typeface="Montserrat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2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5403208"/>
            <a:chOff x="0" y="0"/>
            <a:chExt cx="13017500" cy="720427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78704"/>
              <a:ext cx="13017500" cy="5725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999"/>
                </a:lnSpc>
              </a:pPr>
              <a:r>
                <a:rPr lang="en-US" sz="10999" spc="-329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Welc</a:t>
              </a:r>
              <a:r>
                <a:rPr lang="en-US" sz="10999" spc="-329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ome to Mars. Please Don’t Die.</a:t>
              </a:r>
            </a:p>
            <a:p>
              <a:pPr algn="l" marL="0" indent="0" lvl="0">
                <a:lnSpc>
                  <a:spcPts val="1099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30175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LABORATORY OF ADVANCED PROGRAMMING – MARCH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3474" y="7352665"/>
            <a:ext cx="7194651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  <a:r>
              <a:rPr lang="en-US" sz="2600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Alessandro Arellano Altuna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Lorenzo Bertucci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Aldo Bosco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Tiziano Coluzzi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421" r="0" b="-42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4D1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105" y="5143500"/>
            <a:ext cx="2848644" cy="3310746"/>
            <a:chOff x="0" y="0"/>
            <a:chExt cx="3798192" cy="441432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326534"/>
              <a:ext cx="3739279" cy="308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Collect data from REST devices via polling and from telemetry topics via asynchronous streams.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3798192" cy="11880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77"/>
                </a:lnSpc>
              </a:pPr>
              <a:r>
                <a:rPr lang="en-US" b="true" sz="2751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Heterogeneous</a:t>
              </a:r>
              <a:r>
                <a:rPr lang="en-US" b="true" sz="2751" strike="noStrik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Ingestion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95857" y="5143500"/>
            <a:ext cx="2738766" cy="3409426"/>
            <a:chOff x="0" y="0"/>
            <a:chExt cx="3651688" cy="45459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58108"/>
              <a:ext cx="3595047" cy="308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Utilize a message broker to decouple data sources from automation processing and the dashboard.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3651688" cy="1319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98"/>
                </a:lnSpc>
              </a:pPr>
              <a:r>
                <a:rPr lang="en-US" b="true" sz="3075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Event-Driven Log</a:t>
              </a:r>
              <a:r>
                <a:rPr lang="en-US" b="true" sz="3075" strike="noStrik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ic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83222" y="5143500"/>
            <a:ext cx="2803474" cy="3369774"/>
            <a:chOff x="0" y="0"/>
            <a:chExt cx="3737965" cy="449303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405238"/>
              <a:ext cx="3718334" cy="308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Convert diverse sensor payloads into a unified internal event format for system-wide compatibility.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737965" cy="1266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8"/>
                </a:lnSpc>
              </a:pPr>
              <a:r>
                <a:rPr lang="en-US" b="true" sz="2960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Internal N</a:t>
              </a:r>
              <a:r>
                <a:rPr lang="en-US" b="true" sz="2960" strike="noStrik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ormalization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50974" y="5143500"/>
            <a:ext cx="2696285" cy="2768302"/>
            <a:chOff x="0" y="0"/>
            <a:chExt cx="3595047" cy="369106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458108"/>
              <a:ext cx="3576167" cy="2232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1"/>
                </a:lnSpc>
              </a:pPr>
              <a:r>
                <a:rPr lang="en-US" sz="1965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Dynamically evaluate IF-THEN rules to trigger actuator updates instantly upon event arrival.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3595047" cy="1319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98"/>
                </a:lnSpc>
              </a:pPr>
              <a:r>
                <a:rPr lang="en-US" b="true" sz="3075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Real-Time Automat</a:t>
              </a:r>
              <a:r>
                <a:rPr lang="en-US" b="true" sz="3075" strike="noStrik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63609" y="5143500"/>
            <a:ext cx="2696285" cy="3288855"/>
            <a:chOff x="0" y="0"/>
            <a:chExt cx="3595047" cy="438514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458108"/>
              <a:ext cx="3576167" cy="2927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54"/>
                </a:lnSpc>
              </a:pPr>
              <a:r>
                <a:rPr lang="en-US" sz="2110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Ensure automation rules survive service restarts while maintaining a real-time sensor state cache.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3595047" cy="1319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98"/>
                </a:lnSpc>
              </a:pPr>
              <a:r>
                <a:rPr lang="en-US" b="true" sz="3075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Persistent Storage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105" y="1933499"/>
            <a:ext cx="16331195" cy="1601664"/>
            <a:chOff x="0" y="0"/>
            <a:chExt cx="21774926" cy="213555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212799"/>
              <a:ext cx="11791680" cy="192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298"/>
                </a:lnSpc>
              </a:pPr>
              <a:r>
                <a:rPr lang="en-US" sz="9415" spc="-282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</a:t>
              </a:r>
              <a:r>
                <a:rPr lang="en-US" sz="9415" spc="-282" strike="noStrik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</a:t>
              </a:r>
              <a:r>
                <a:rPr lang="en-US" sz="9415" spc="-282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oject Goal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529463" y="-28575"/>
              <a:ext cx="11245463" cy="2164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52"/>
                </a:lnSpc>
              </a:pPr>
              <a:r>
                <a:rPr lang="en-US" sz="3347" spc="-100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</a:t>
              </a:r>
              <a:r>
                <a:rPr lang="en-US" sz="3347" spc="-100" strike="noStrik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347" spc="-100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goal of this project is to develop an event-driven IoT automation platform for a simulated Mars habitat.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2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49244" y="0"/>
            <a:ext cx="7738756" cy="10287000"/>
          </a:xfrm>
          <a:custGeom>
            <a:avLst/>
            <a:gdLst/>
            <a:ahLst/>
            <a:cxnLst/>
            <a:rect r="r" b="b" t="t" l="l"/>
            <a:pathLst>
              <a:path h="10287000" w="7738756">
                <a:moveTo>
                  <a:pt x="0" y="0"/>
                </a:moveTo>
                <a:lnTo>
                  <a:pt x="7738756" y="0"/>
                </a:lnTo>
                <a:lnTo>
                  <a:pt x="7738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38" r="0" b="-36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906604" cy="4206679"/>
            <a:chOff x="0" y="0"/>
            <a:chExt cx="11875472" cy="560890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61925"/>
              <a:ext cx="10691034" cy="3190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Event-Driven 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65805"/>
              <a:ext cx="11875472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distributed microservice architecture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designed for scalability and fault tolerance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5332229"/>
            <a:ext cx="8597281" cy="293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2"/>
              </a:lnSpc>
              <a:spcBef>
                <a:spcPct val="0"/>
              </a:spcBef>
            </a:pPr>
            <a:r>
              <a:rPr lang="en-US" b="true" sz="2787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nents</a:t>
            </a:r>
            <a:r>
              <a:rPr lang="en-US" b="true" sz="2787" strike="noStrike" u="none">
                <a:solidFill>
                  <a:srgbClr val="F7C5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algn="l" marL="601872" indent="-300936" lvl="1">
              <a:lnSpc>
                <a:spcPts val="3902"/>
              </a:lnSpc>
              <a:buFont typeface="Arial"/>
              <a:buChar char="•"/>
            </a:pP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ma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liz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 servi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</a:p>
          <a:p>
            <a:pPr algn="l" marL="601872" indent="-300936" lvl="1">
              <a:lnSpc>
                <a:spcPts val="3902"/>
              </a:lnSpc>
              <a:buFont typeface="Arial"/>
              <a:buChar char="•"/>
            </a:pP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RabbitMQ 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ssa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ge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 b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ok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</a:p>
          <a:p>
            <a:pPr algn="l" marL="601872" indent="-300936" lvl="1">
              <a:lnSpc>
                <a:spcPts val="3902"/>
              </a:lnSpc>
              <a:buFont typeface="Arial"/>
              <a:buChar char="•"/>
            </a:pP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Rul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 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ne</a:t>
            </a:r>
          </a:p>
          <a:p>
            <a:pPr algn="l" marL="601872" indent="-300936" lvl="1">
              <a:lnSpc>
                <a:spcPts val="3902"/>
              </a:lnSpc>
              <a:buFont typeface="Arial"/>
              <a:buChar char="•"/>
            </a:pP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Rules S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vic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 + Pos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greSQL</a:t>
            </a:r>
          </a:p>
          <a:p>
            <a:pPr algn="l" marL="601872" indent="-300936" lvl="1">
              <a:lnSpc>
                <a:spcPts val="3902"/>
              </a:lnSpc>
              <a:spcBef>
                <a:spcPct val="0"/>
              </a:spcBef>
              <a:buFont typeface="Arial"/>
              <a:buChar char="•"/>
            </a:pP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Fron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tend 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hbo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2787" strike="noStrike" u="none">
                <a:solidFill>
                  <a:srgbClr val="F7C59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4D1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635499"/>
            <a:chOff x="0" y="0"/>
            <a:chExt cx="9182100" cy="61806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925"/>
              <a:ext cx="9182100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Normalizer Service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94466"/>
              <a:ext cx="9182100" cy="388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esp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ble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 colle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 s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tanda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izi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Mars habitat heterogeneous sources.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2011045"/>
            <a:chOff x="0" y="0"/>
            <a:chExt cx="9182100" cy="268139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service polls REST sensors every 10 seconds and listens to asynchronous WebSocket telemetry streams.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Hybr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 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nges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2011045"/>
            <a:chOff x="0" y="0"/>
            <a:chExt cx="9182100" cy="268139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onverts raw, incompatible payloads into a unified </a:t>
              </a:r>
              <a:r>
                <a:rPr lang="en-US" sz="2199" i="true">
                  <a:solidFill>
                    <a:srgbClr val="F7C59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CommonTelemetry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schema using Pydantic models.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N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mal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011045"/>
            <a:chOff x="0" y="0"/>
            <a:chExt cx="9182100" cy="268139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Standard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ized events are published as persistent messages to RabbitMQ, decoupling ingestion from logic.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Event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Publica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7F2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635499"/>
            <a:chOff x="0" y="0"/>
            <a:chExt cx="9182100" cy="61806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925"/>
              <a:ext cx="9182100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Rule Engine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94466"/>
              <a:ext cx="9182100" cy="3886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system's p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ry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onsumer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au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tion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logic in 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real-time.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2011045"/>
            <a:chOff x="0" y="0"/>
            <a:chExt cx="9182100" cy="268139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lu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 dynamic "IF-THEN" conditions (e.g., Temperature &gt; 28°C) as soon as events arrive from the broker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Logic Evalu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2011045"/>
            <a:chOff x="0" y="0"/>
            <a:chExt cx="9182100" cy="268139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Trigg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ers automated state updates by issuing REST commands to habitat hardware like fans and heaters.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Actuat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Contro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011045"/>
            <a:chOff x="0" y="0"/>
            <a:chExt cx="9182100" cy="268139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lements a state manager supporting AUTO, ON, and OFF modes for manual operator overrides.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ol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od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4D1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178174"/>
            <a:chOff x="0" y="0"/>
            <a:chExt cx="9182100" cy="42375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925"/>
              <a:ext cx="9182100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</a:t>
              </a: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ULES SERVICE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94466"/>
              <a:ext cx="9182100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dicat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sist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nce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ay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ensur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ng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automa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ion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rul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survive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2011045"/>
            <a:chOff x="0" y="0"/>
            <a:chExt cx="9182100" cy="268139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hosen for ACID compliance and reliable handling of concurrent requests from multiple microservices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Postg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SQL S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620520"/>
            <a:chOff x="0" y="0"/>
            <a:chExt cx="9182100" cy="216069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Provides full CRUD (Create, Read, Update, Delete) endpoints for dynamic rule configuration.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RESTful M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anag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emen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011045"/>
            <a:chOff x="0" y="0"/>
            <a:chExt cx="9182100" cy="268139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aintains persistent rules in the database while keeping live sensor states in-memory for maximum speed.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9182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Separat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2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29464" y="0"/>
            <a:ext cx="10426327" cy="10354323"/>
          </a:xfrm>
          <a:custGeom>
            <a:avLst/>
            <a:gdLst/>
            <a:ahLst/>
            <a:cxnLst/>
            <a:rect r="r" b="b" t="t" l="l"/>
            <a:pathLst>
              <a:path h="10354323" w="10426327">
                <a:moveTo>
                  <a:pt x="0" y="0"/>
                </a:moveTo>
                <a:lnTo>
                  <a:pt x="10426327" y="0"/>
                </a:lnTo>
                <a:lnTo>
                  <a:pt x="10426327" y="10354323"/>
                </a:lnTo>
                <a:lnTo>
                  <a:pt x="0" y="10354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" r="0" b="-15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2081" y="3386350"/>
            <a:ext cx="5868509" cy="1743310"/>
            <a:chOff x="0" y="0"/>
            <a:chExt cx="7824679" cy="23244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98720"/>
              <a:ext cx="7824679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isplays live sensor readings and historical trends updated via persistent RabbitMQ consumers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82467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Real-t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 Tel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2081" y="5657684"/>
            <a:ext cx="5868509" cy="1729008"/>
            <a:chOff x="0" y="0"/>
            <a:chExt cx="7824679" cy="23053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79651"/>
              <a:ext cx="7824679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 a user-friendly interface to manage 20 user stories, from life support to power safety.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82467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Rule M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gement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2081" y="7914717"/>
            <a:ext cx="5868509" cy="2076629"/>
            <a:chOff x="0" y="0"/>
            <a:chExt cx="7824679" cy="27688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22445"/>
              <a:ext cx="7824679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</a:t>
              </a:r>
              <a:r>
                <a:rPr lang="en-US" sz="2199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bines live charts for trend monitoring with a dedicated panel for real-time CRUD operations on automation rules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82467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ly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tics &amp; Rule 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Manageme</a:t>
              </a:r>
              <a:r>
                <a:rPr lang="en-US" b="true" sz="2600" spc="-78" strike="noStrike" u="none">
                  <a:solidFill>
                    <a:srgbClr val="F7C59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2081" y="152541"/>
            <a:ext cx="7397383" cy="2709933"/>
            <a:chOff x="0" y="0"/>
            <a:chExt cx="9863178" cy="361324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1925"/>
              <a:ext cx="9863178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9000" spc="-270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F</a:t>
              </a: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</a:t>
              </a: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ONTEND</a:t>
              </a: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 </a:t>
              </a:r>
              <a:r>
                <a:rPr lang="en-US" sz="9000" spc="-270" strike="noStrike" u="none">
                  <a:solidFill>
                    <a:srgbClr val="F7C59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DASHBOARD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670145"/>
              <a:ext cx="9863178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al-ti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interface for habitat monitoring and m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iss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ion-critic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</a:t>
              </a:r>
              <a:r>
                <a:rPr lang="en-US" sz="3199" spc="-95" strike="noStrike" u="none">
                  <a:solidFill>
                    <a:srgbClr val="F7C59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Presentazione - Mission to Mars</dc:description>
  <dc:identifier>DAHDj9YLdsg</dc:identifier>
  <dcterms:modified xsi:type="dcterms:W3CDTF">2011-08-01T06:04:30Z</dcterms:modified>
  <cp:revision>1</cp:revision>
  <dc:title>Presentazione - Mission to Mars</dc:title>
</cp:coreProperties>
</file>